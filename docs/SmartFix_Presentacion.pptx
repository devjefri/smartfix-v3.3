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2AUzdxbfAkjCBn0fZxq6XY0ZH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509760" y="-2011680"/>
            <a:ext cx="5486400" cy="5486400"/>
          </a:xfrm>
          <a:prstGeom prst="ellipse">
            <a:avLst/>
          </a:prstGeom>
          <a:solidFill>
            <a:srgbClr val="112A44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0F2438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SISTEMA DE GESTION DE REPARACIONES DE SERVICIO TECNICO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77240" y="178308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SmartFix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3063240"/>
            <a:ext cx="8961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Arquitectura de microservicios con Spring Boot — Gateway, BFF y 11 servicios de negocio orquestados con observabilidad centralizada.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3977640"/>
            <a:ext cx="992124" cy="384048"/>
          </a:xfrm>
          <a:prstGeom prst="roundRect">
            <a:avLst>
              <a:gd fmla="val 50000" name="adj"/>
            </a:avLst>
          </a:prstGeom>
          <a:solidFill>
            <a:srgbClr val="18223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822960" y="3977640"/>
            <a:ext cx="9921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Gateway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016252" y="3977640"/>
            <a:ext cx="608076" cy="384048"/>
          </a:xfrm>
          <a:prstGeom prst="roundRect">
            <a:avLst>
              <a:gd fmla="val 50000" name="adj"/>
            </a:avLst>
          </a:prstGeom>
          <a:solidFill>
            <a:srgbClr val="18223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2016252" y="3977640"/>
            <a:ext cx="6080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BFF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825496" y="3977640"/>
            <a:ext cx="1664208" cy="384048"/>
          </a:xfrm>
          <a:prstGeom prst="roundRect">
            <a:avLst>
              <a:gd fmla="val 50000" name="adj"/>
            </a:avLst>
          </a:prstGeom>
          <a:solidFill>
            <a:srgbClr val="18223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2825496" y="3977640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13 Componentes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690872" y="3977640"/>
            <a:ext cx="1472184" cy="384048"/>
          </a:xfrm>
          <a:prstGeom prst="roundRect">
            <a:avLst>
              <a:gd fmla="val 50000" name="adj"/>
            </a:avLst>
          </a:prstGeom>
          <a:solidFill>
            <a:srgbClr val="18223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690872" y="3977640"/>
            <a:ext cx="1472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JWT Security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364224" y="3977640"/>
            <a:ext cx="1184148" cy="384048"/>
          </a:xfrm>
          <a:prstGeom prst="roundRect">
            <a:avLst>
              <a:gd fmla="val 50000" name="adj"/>
            </a:avLst>
          </a:prstGeom>
          <a:solidFill>
            <a:srgbClr val="18223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6364224" y="3977640"/>
            <a:ext cx="11841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GlitchTip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749540" y="3977640"/>
            <a:ext cx="896112" cy="384048"/>
          </a:xfrm>
          <a:prstGeom prst="roundRect">
            <a:avLst>
              <a:gd fmla="val 50000" name="adj"/>
            </a:avLst>
          </a:prstGeom>
          <a:solidFill>
            <a:srgbClr val="18223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7749540" y="3977640"/>
            <a:ext cx="896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822960" y="580644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Jeferson Aquino   ·   Karl Obreque   ·   Jorge Leal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Ingenieria de Software —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es SmartFix?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40080" y="105156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Centraliza la gestion de reparaciones tecnicas en trece componentes independientes.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0080" y="1691640"/>
            <a:ext cx="5212080" cy="4480560"/>
          </a:xfrm>
          <a:prstGeom prst="roundRect">
            <a:avLst>
              <a:gd fmla="val 2041" name="adj"/>
            </a:avLst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alert.png" id="42" name="Google Shape;4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9659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1554480" y="1993392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El problema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960120" y="2606040"/>
            <a:ext cx="46177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Talleres gestionan reparaciones de forma manual y dispersa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Sin trazabilidad del estado real de cada equipo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Clientes sin actualizaciones oportunas del proceso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Sin visibilidad de stock, cotizaciones ni </a:t>
            </a:r>
            <a:r>
              <a:rPr lang="en-US">
                <a:solidFill>
                  <a:srgbClr val="CBD5E1"/>
                </a:solidFill>
              </a:rPr>
              <a:t>garantías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Arial"/>
              <a:buChar char="•"/>
            </a:pPr>
            <a:r>
              <a:rPr lang="en-US">
                <a:solidFill>
                  <a:srgbClr val="CBD5E1"/>
                </a:solidFill>
              </a:rPr>
              <a:t>Ningún</a:t>
            </a:r>
            <a:r>
              <a:rPr b="0" i="0" lang="en-US" sz="14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registro auditable de lo que ocurre en el sistema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080760" y="1691640"/>
            <a:ext cx="5440680" cy="4480560"/>
          </a:xfrm>
          <a:prstGeom prst="roundRect">
            <a:avLst>
              <a:gd fmla="val 2041" name="adj"/>
            </a:avLst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.png" id="46" name="Google Shape;4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19659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6995160" y="1993392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La solucion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400800" y="2606040"/>
            <a:ext cx="48463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13 microservicios independientes y escalables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Gateway como unico punto de entrada, JWT en cada nivel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BFF que unifica dashboard, </a:t>
            </a:r>
            <a:r>
              <a:rPr lang="en-US">
                <a:solidFill>
                  <a:srgbClr val="CBD5E1"/>
                </a:solidFill>
              </a:rPr>
              <a:t>cotización</a:t>
            </a:r>
            <a:r>
              <a:rPr b="0" i="0" lang="en-US" sz="14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, garantia y mas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Inventario, facturacion y encuestas integrados al ciclo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GlitchTip centraliza los errores de todo el sistema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SmartFix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01 · Introduccion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Evolucion del proyecto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40080" y="105156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Tres etapas incrementales, de dos microservicios a una plataforma completa.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40080" y="1828800"/>
            <a:ext cx="3520440" cy="4251960"/>
          </a:xfrm>
          <a:prstGeom prst="roundRect">
            <a:avLst>
              <a:gd fmla="val 2597" name="adj"/>
            </a:avLst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960120" y="2148840"/>
            <a:ext cx="777240" cy="777240"/>
          </a:xfrm>
          <a:prstGeom prst="ellipse">
            <a:avLst/>
          </a:prstGeom>
          <a:solidFill>
            <a:srgbClr val="0B1220"/>
          </a:solidFill>
          <a:ln cap="flat" cmpd="sng" w="254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960120" y="214884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60120" y="3063240"/>
            <a:ext cx="2880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Microservicios base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960120" y="3794760"/>
            <a:ext cx="28803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ms-cliente + ms-reparacion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JWT para login/registro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Verificacion HTTP puntual entre servicios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178808" y="3657600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443984" y="1828800"/>
            <a:ext cx="3520440" cy="4251960"/>
          </a:xfrm>
          <a:prstGeom prst="roundRect">
            <a:avLst>
              <a:gd fmla="val 2597" name="adj"/>
            </a:avLst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764024" y="2148840"/>
            <a:ext cx="777240" cy="777240"/>
          </a:xfrm>
          <a:prstGeom prst="ellipse">
            <a:avLst/>
          </a:prstGeom>
          <a:solidFill>
            <a:srgbClr val="0B1220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4764024" y="214884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764024" y="3063240"/>
            <a:ext cx="2880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BFF, seguridad y testing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764024" y="3794760"/>
            <a:ext cx="28803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bff-web orquesta ambos servicios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Token JWT interno entre microservicios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8 pruebas automatizadas + Swagger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982712" y="3657600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247888" y="1828800"/>
            <a:ext cx="3520440" cy="4251960"/>
          </a:xfrm>
          <a:prstGeom prst="roundRect">
            <a:avLst>
              <a:gd fmla="val 2597" name="adj"/>
            </a:avLst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8567928" y="2148840"/>
            <a:ext cx="777240" cy="777240"/>
          </a:xfrm>
          <a:prstGeom prst="ellipse">
            <a:avLst/>
          </a:prstGeom>
          <a:solidFill>
            <a:srgbClr val="0B1220"/>
          </a:solidFill>
          <a:ln cap="flat" cmpd="sng" w="254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8567928" y="214884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8567928" y="3063240"/>
            <a:ext cx="2880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Gateway y observabilidad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8567928" y="3794760"/>
            <a:ext cx="28803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Gateway como entrada unica publica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9 microservicios nuevos de negocio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GlitchTip + 60 pruebas automatizadas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SmartFix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02 · Evolucion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/>
          <p:nvPr/>
        </p:nvSpPr>
        <p:spPr>
          <a:xfrm>
            <a:off x="640080" y="384048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Arquitectura final — 13 componentes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40080" y="93268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Regla de oro: ningun cliente externo habla directo con un microservicio de negocio.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48640" y="1417320"/>
            <a:ext cx="11064240" cy="5074920"/>
          </a:xfrm>
          <a:prstGeom prst="roundRect">
            <a:avLst>
              <a:gd fmla="val 144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2_diagram.png" id="85" name="Google Shape;8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600200"/>
            <a:ext cx="10698480" cy="423943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4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SmartFix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03 · Arquitectura (C2)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/>
          <p:nvPr/>
        </p:nvSpPr>
        <p:spPr>
          <a:xfrm>
            <a:off x="640080" y="384048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Catalogo de microservicios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40080" y="93268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Cada microservicio con base de datos usa su propio PostgreSQL (Database per Service).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40080" y="1536192"/>
            <a:ext cx="2157984" cy="1481328"/>
          </a:xfrm>
          <a:prstGeom prst="roundRect">
            <a:avLst>
              <a:gd fmla="val 4938" name="adj"/>
            </a:avLst>
          </a:prstGeom>
          <a:solidFill>
            <a:srgbClr val="141E33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804672" y="167335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gateway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804672" y="206654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:8080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804672" y="24688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Entrada publica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2926080" y="1536192"/>
            <a:ext cx="2157984" cy="1481328"/>
          </a:xfrm>
          <a:prstGeom prst="roundRect">
            <a:avLst>
              <a:gd fmla="val 4938" name="adj"/>
            </a:avLst>
          </a:prstGeom>
          <a:solidFill>
            <a:srgbClr val="141E33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3090672" y="167335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bff-web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090672" y="206654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:8083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090672" y="24688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Orquestacion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212080" y="1536192"/>
            <a:ext cx="2157984" cy="1481328"/>
          </a:xfrm>
          <a:prstGeom prst="roundRect">
            <a:avLst>
              <a:gd fmla="val 4938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5376672" y="167335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ms-cliente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376672" y="206654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:8081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376672" y="24688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Auth + clientes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7498080" y="1536192"/>
            <a:ext cx="2157984" cy="1481328"/>
          </a:xfrm>
          <a:prstGeom prst="roundRect">
            <a:avLst>
              <a:gd fmla="val 4938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7662672" y="167335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ms-reparacion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7662672" y="206654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:8082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7662672" y="24688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Reparaciones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9784080" y="1536192"/>
            <a:ext cx="2157984" cy="1481328"/>
          </a:xfrm>
          <a:prstGeom prst="roundRect">
            <a:avLst>
              <a:gd fmla="val 4938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9948672" y="167335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ms-notificacion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9948672" y="206654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:8084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9948672" y="24688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EMAIL / SMS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40080" y="3145536"/>
            <a:ext cx="2157984" cy="1481328"/>
          </a:xfrm>
          <a:prstGeom prst="roundRect">
            <a:avLst>
              <a:gd fmla="val 4938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804672" y="3282696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ms-cotizacion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804672" y="36758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:8085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804672" y="4078224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Presupuestos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2926080" y="3145536"/>
            <a:ext cx="2157984" cy="1481328"/>
          </a:xfrm>
          <a:prstGeom prst="roundRect">
            <a:avLst>
              <a:gd fmla="val 4938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3090672" y="3282696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ms-garantia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090672" y="36758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:8086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090672" y="4078224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Vencimientos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212080" y="3145536"/>
            <a:ext cx="2157984" cy="1481328"/>
          </a:xfrm>
          <a:prstGeom prst="roundRect">
            <a:avLst>
              <a:gd fmla="val 4938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5376672" y="3282696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ms-conversor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376672" y="36758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:8087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376672" y="4078224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Divisas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498080" y="3145536"/>
            <a:ext cx="2157984" cy="1481328"/>
          </a:xfrm>
          <a:prstGeom prst="roundRect">
            <a:avLst>
              <a:gd fmla="val 4938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7662672" y="3282696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ms-diagnostico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7662672" y="36758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:8088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662672" y="4078224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Prioridad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9784080" y="3145536"/>
            <a:ext cx="2157984" cy="1481328"/>
          </a:xfrm>
          <a:prstGeom prst="roundRect">
            <a:avLst>
              <a:gd fmla="val 4938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9948672" y="3282696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ms-inventario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9948672" y="36758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:8089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9948672" y="4078224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Repuestos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40080" y="4754880"/>
            <a:ext cx="2157984" cy="1481328"/>
          </a:xfrm>
          <a:prstGeom prst="roundRect">
            <a:avLst>
              <a:gd fmla="val 4938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804672" y="4892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ms-factura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804672" y="528523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:8090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804672" y="568756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Facturacion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2926080" y="4754880"/>
            <a:ext cx="2157984" cy="1481328"/>
          </a:xfrm>
          <a:prstGeom prst="roundRect">
            <a:avLst>
              <a:gd fmla="val 4938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3090672" y="4892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ms-encuesta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090672" y="528523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:8091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3090672" y="568756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Satisfaccion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212080" y="4754880"/>
            <a:ext cx="2157984" cy="1481328"/>
          </a:xfrm>
          <a:prstGeom prst="roundRect">
            <a:avLst>
              <a:gd fmla="val 4938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5376672" y="4892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ms-auditoria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376672" y="528523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:8092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376672" y="568756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Bitacora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SmartFix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04 · Microservicios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Gateway y BFF — la regla de oro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Todo el trafico externo entra por un unico punto y se reenvia al orquestador de negocio.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777240" y="2148840"/>
            <a:ext cx="2331720" cy="1554480"/>
          </a:xfrm>
          <a:prstGeom prst="roundRect">
            <a:avLst>
              <a:gd fmla="val 5882" name="adj"/>
            </a:avLst>
          </a:prstGeom>
          <a:solidFill>
            <a:srgbClr val="141E33"/>
          </a:solidFill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914400" y="2404872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Cliente HTTP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914400" y="2880360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Postman / 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127248" y="2606040"/>
            <a:ext cx="4663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611880" y="2148840"/>
            <a:ext cx="2331720" cy="1554480"/>
          </a:xfrm>
          <a:prstGeom prst="roundRect">
            <a:avLst>
              <a:gd fmla="val 5882" name="adj"/>
            </a:avLst>
          </a:prstGeom>
          <a:solidFill>
            <a:srgbClr val="141E33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3749040" y="2404872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Gateway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749040" y="2880360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puerto 8080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unico entry point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961888" y="2606040"/>
            <a:ext cx="4663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446520" y="2148840"/>
            <a:ext cx="2331720" cy="1554480"/>
          </a:xfrm>
          <a:prstGeom prst="roundRect">
            <a:avLst>
              <a:gd fmla="val 5882" name="adj"/>
            </a:avLst>
          </a:prstGeom>
          <a:solidFill>
            <a:srgbClr val="141E33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6583680" y="2404872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BFF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583680" y="2880360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puerto 8083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orquestador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8796528" y="2606040"/>
            <a:ext cx="4663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9281160" y="2148840"/>
            <a:ext cx="2331720" cy="1554480"/>
          </a:xfrm>
          <a:prstGeom prst="roundRect">
            <a:avLst>
              <a:gd fmla="val 5882" name="adj"/>
            </a:avLst>
          </a:prstGeom>
          <a:solidFill>
            <a:srgbClr val="141E33"/>
          </a:solidFill>
          <a:ln cap="flat" cmpd="sng" w="1905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9418320" y="2404872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 microservicios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9418320" y="2880360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de negocio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777240" y="4114800"/>
            <a:ext cx="10607040" cy="1965960"/>
          </a:xfrm>
          <a:prstGeom prst="roundRect">
            <a:avLst>
              <a:gd fmla="val 4651" name="adj"/>
            </a:avLst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1051560" y="4315968"/>
            <a:ext cx="10058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El Gateway (Spring Cloud Gateway, WebMVC) reenvia /bff/** y el Swagger del BFF, sin logica de negocio propia.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El BFF es el unico componente autorizado a llamar a los 11 microservicios de negocio, usando RestClient.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Si un microservicio no responde, el BFF retorna 503 con el nombre del servicio afectado.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SmartFix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05 · Gateway y BFF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Seguridad — JWT en todos los niveles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Ningun endpoint de negocio queda expuesto sin credenciales validas.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640080" y="1783080"/>
            <a:ext cx="3520440" cy="4297680"/>
          </a:xfrm>
          <a:prstGeom prst="roundRect">
            <a:avLst>
              <a:gd fmla="val 2597" name="adj"/>
            </a:avLst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hield.png" id="183" name="Google Shape;1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112" y="20574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/>
          <p:nvPr/>
        </p:nvSpPr>
        <p:spPr>
          <a:xfrm>
            <a:off x="896112" y="2651760"/>
            <a:ext cx="30083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38BDF8"/>
                </a:solidFill>
              </a:rPr>
              <a:t>Autenticación</a:t>
            </a:r>
            <a:r>
              <a:rPr b="1" i="0" lang="en-US" sz="15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 de usuarios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896112" y="3474720"/>
            <a:ext cx="3008376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Login / registro -&gt; JWT (HS256, 1 hora)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Emitido por ms-cliente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Rutas publicas: /api/auth/**, /bff/auth/**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443984" y="1783080"/>
            <a:ext cx="3520440" cy="4297680"/>
          </a:xfrm>
          <a:prstGeom prst="roundRect">
            <a:avLst>
              <a:gd fmla="val 2597" name="adj"/>
            </a:avLst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hield.png" id="187" name="Google Shape;18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0016" y="20574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7"/>
          <p:cNvSpPr/>
          <p:nvPr/>
        </p:nvSpPr>
        <p:spPr>
          <a:xfrm>
            <a:off x="4700016" y="2651760"/>
            <a:ext cx="30083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38BDF8"/>
                </a:solidFill>
              </a:rPr>
              <a:t>Comunicación</a:t>
            </a:r>
            <a:r>
              <a:rPr b="1" i="0" lang="en-US" sz="15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 interna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700016" y="3474720"/>
            <a:ext cx="3008376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ms-reparacion genera token interno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Rol INTERNAL_SERVICE, 60 segundos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Mismo secreto compartido entre servicios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8247888" y="1783080"/>
            <a:ext cx="3520440" cy="4297680"/>
          </a:xfrm>
          <a:prstGeom prst="roundRect">
            <a:avLst>
              <a:gd fmla="val 2597" name="adj"/>
            </a:avLst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hield.png" id="191" name="Google Shape;1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3920" y="20574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/>
          <p:nvPr/>
        </p:nvSpPr>
        <p:spPr>
          <a:xfrm>
            <a:off x="8503920" y="2651760"/>
            <a:ext cx="30083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Sin rutas </a:t>
            </a:r>
            <a:r>
              <a:rPr b="1" lang="en-US" sz="1550">
                <a:solidFill>
                  <a:srgbClr val="38BDF8"/>
                </a:solidFill>
              </a:rPr>
              <a:t>públicas</a:t>
            </a:r>
            <a:r>
              <a:rPr b="1" i="0" lang="en-US" sz="15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 inseguras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8503920" y="3474720"/>
            <a:ext cx="3008376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Filtro JwtFilter en cada microservicio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403 sin token, 401 si es invalido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Gateway reenvia el header, no lo valida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SmartFix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06 · Seguridad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Observabilidad con GlitchTip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Alternativa open-source compatible con el SDK de Sentry, autoalojada en Docker.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822960" y="2103120"/>
            <a:ext cx="2377440" cy="1828800"/>
          </a:xfrm>
          <a:prstGeom prst="roundRect">
            <a:avLst>
              <a:gd fmla="val 5000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alert.png" id="204" name="Google Shape;20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360" y="2359152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/>
          <p:nvPr/>
        </p:nvSpPr>
        <p:spPr>
          <a:xfrm>
            <a:off x="960120" y="301752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Ocurre un error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960120" y="34290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p.ej. microservicio caido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3218688" y="2743200"/>
            <a:ext cx="42062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3657600" y="2103120"/>
            <a:ext cx="2377440" cy="1828800"/>
          </a:xfrm>
          <a:prstGeom prst="roundRect">
            <a:avLst>
              <a:gd fmla="val 5000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activity.png" id="209" name="Google Shape;20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359152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8"/>
          <p:cNvSpPr/>
          <p:nvPr/>
        </p:nvSpPr>
        <p:spPr>
          <a:xfrm>
            <a:off x="3794760" y="301752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loguea ERROR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3794760" y="34290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GlobalExceptionHandler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6053328" y="2743200"/>
            <a:ext cx="42062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492240" y="2103120"/>
            <a:ext cx="2377440" cy="1828800"/>
          </a:xfrm>
          <a:prstGeom prst="roundRect">
            <a:avLst>
              <a:gd fmla="val 5000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end.png" id="214" name="Google Shape;21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06640" y="2359152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8"/>
          <p:cNvSpPr/>
          <p:nvPr/>
        </p:nvSpPr>
        <p:spPr>
          <a:xfrm>
            <a:off x="6629400" y="301752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Sentry SDK envia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629400" y="34290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evento + stacktrace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8887968" y="2743200"/>
            <a:ext cx="42062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9326880" y="2103120"/>
            <a:ext cx="2377440" cy="1828800"/>
          </a:xfrm>
          <a:prstGeom prst="roundRect">
            <a:avLst>
              <a:gd fmla="val 5000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.png" id="219" name="Google Shape;21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41280" y="2359152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8"/>
          <p:cNvSpPr/>
          <p:nvPr/>
        </p:nvSpPr>
        <p:spPr>
          <a:xfrm>
            <a:off x="9464040" y="301752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GlitchTip captura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9464040" y="34290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queda como issue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822960" y="4434840"/>
            <a:ext cx="10515600" cy="1600200"/>
          </a:xfrm>
          <a:prstGeom prst="roundRect">
            <a:avLst>
              <a:gd fmla="val 5714" name="adj"/>
            </a:avLst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1097280" y="4617720"/>
            <a:ext cx="9966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SENTRY_DSN 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se define por variable de entorno; sin ella, el SDK queda deshabilitado y el sistema sigue funcionando igual. Cada microservicio (incluido el BFF) reporta sus errores de nivel ERROR de forma independiente, ademas de mostrarlos por consola con Logback.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SmartFix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07 · Observabilidad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Testing y calidad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La misma estrategia de pruebas se replica en los 13 componentes del sistema.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40080" y="1783080"/>
            <a:ext cx="3383280" cy="1554480"/>
          </a:xfrm>
          <a:prstGeom prst="roundRect">
            <a:avLst>
              <a:gd fmla="val 5882" name="adj"/>
            </a:avLst>
          </a:prstGeom>
          <a:solidFill>
            <a:srgbClr val="141E33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640080" y="1901952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60+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40080" y="269748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pruebas automatizadas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4206240" y="1783080"/>
            <a:ext cx="3383280" cy="1554480"/>
          </a:xfrm>
          <a:prstGeom prst="roundRect">
            <a:avLst>
              <a:gd fmla="val 5882" name="adj"/>
            </a:avLst>
          </a:prstGeom>
          <a:solidFill>
            <a:srgbClr val="141E33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4206240" y="1901952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4206240" y="269748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componentes cubiertos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7772400" y="1783080"/>
            <a:ext cx="3383280" cy="1554480"/>
          </a:xfrm>
          <a:prstGeom prst="roundRect">
            <a:avLst>
              <a:gd fmla="val 5882" name="adj"/>
            </a:avLst>
          </a:prstGeom>
          <a:solidFill>
            <a:srgbClr val="141E33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7772400" y="1901952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7772400" y="269748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cobertura minima JaCoCo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640080" y="3611880"/>
            <a:ext cx="10607040" cy="2423160"/>
          </a:xfrm>
          <a:prstGeom prst="roundRect">
            <a:avLst>
              <a:gd fmla="val 3774" name="adj"/>
            </a:avLst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914400" y="37947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Tres niveles de prueba por microservicio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914400" y="4251960"/>
            <a:ext cx="10058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Unit — Service: ServiceImpl instanciado a mano con mocks de Mockito (camino feliz + excepciones de negocio)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Unit — Controller: verifica HttpStatus y cuerpo de respuesta, sin pasar por la capa HTTP real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Integracion — Repository: contexto de Spring completo contra H2 en memoria (perfil test), validando las consultas JPA/Flyway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SmartFix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08 · Testing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Flujo de </a:t>
            </a:r>
            <a:r>
              <a:rPr b="1" lang="en-US" sz="3000">
                <a:solidFill>
                  <a:srgbClr val="FFFFFF"/>
                </a:solidFill>
              </a:rPr>
              <a:t>D</a:t>
            </a:r>
            <a:r>
              <a:rPr b="1" lang="en-US" sz="3000">
                <a:solidFill>
                  <a:srgbClr val="FFFFFF"/>
                </a:solidFill>
              </a:rPr>
              <a:t>emostración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Secuencia sugerida para probar el sistema de punta a punta.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640080" y="1783080"/>
            <a:ext cx="3520440" cy="2011680"/>
          </a:xfrm>
          <a:prstGeom prst="roundRect">
            <a:avLst>
              <a:gd fmla="val 4091" name="adj"/>
            </a:avLst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841248" y="1965960"/>
            <a:ext cx="457200" cy="457200"/>
          </a:xfrm>
          <a:prstGeom prst="ellipse">
            <a:avLst/>
          </a:prstGeom>
          <a:solidFill>
            <a:srgbClr val="0B1220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841248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1417320" y="198424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868680" y="256032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POST /api/auth/register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868680" y="3017520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Crea usuario -&gt; retorna JWT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4325112" y="1783080"/>
            <a:ext cx="3520440" cy="2011680"/>
          </a:xfrm>
          <a:prstGeom prst="roundRect">
            <a:avLst>
              <a:gd fmla="val 4091" name="adj"/>
            </a:avLst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4526280" y="1965960"/>
            <a:ext cx="457200" cy="457200"/>
          </a:xfrm>
          <a:prstGeom prst="ellipse">
            <a:avLst/>
          </a:prstGeom>
          <a:solidFill>
            <a:srgbClr val="0B1220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452628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5102352" y="198424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Cliente + reparacion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4553712" y="256032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POST /api/customers y /api/reparaciones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4553712" y="3017520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Cliente y reparacion vinculados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8010144" y="1783080"/>
            <a:ext cx="3520440" cy="2011680"/>
          </a:xfrm>
          <a:prstGeom prst="roundRect">
            <a:avLst>
              <a:gd fmla="val 4091" name="adj"/>
            </a:avLst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8211312" y="1965960"/>
            <a:ext cx="457200" cy="457200"/>
          </a:xfrm>
          <a:prstGeom prst="ellipse">
            <a:avLst/>
          </a:prstGeom>
          <a:solidFill>
            <a:srgbClr val="0B1220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8211312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8787384" y="198424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 token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8238744" y="256032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GET /api/reparaciones sin JWT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8238744" y="3017520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403 Forbidden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640080" y="3959352"/>
            <a:ext cx="3520440" cy="2011680"/>
          </a:xfrm>
          <a:prstGeom prst="roundRect">
            <a:avLst>
              <a:gd fmla="val 4091" name="adj"/>
            </a:avLst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841248" y="4142232"/>
            <a:ext cx="457200" cy="457200"/>
          </a:xfrm>
          <a:prstGeom prst="ellipse">
            <a:avLst/>
          </a:prstGeom>
          <a:solidFill>
            <a:srgbClr val="0B1220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841248" y="4142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1417320" y="41605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Cotizacion via BFF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868680" y="4736592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POST /bff/cotizaciones/calcular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868680" y="519379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Presupuesto estimado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4325112" y="3959352"/>
            <a:ext cx="3520440" cy="2011680"/>
          </a:xfrm>
          <a:prstGeom prst="roundRect">
            <a:avLst>
              <a:gd fmla="val 4091" name="adj"/>
            </a:avLst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4526280" y="4142232"/>
            <a:ext cx="457200" cy="457200"/>
          </a:xfrm>
          <a:prstGeom prst="ellipse">
            <a:avLst/>
          </a:prstGeom>
          <a:solidFill>
            <a:srgbClr val="0B1220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4526280" y="4142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5102352" y="41605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 via Gateway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4553712" y="4736592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GET :8080/bff/dashboard/{rut}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4553712" y="519379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Datos unificados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8010144" y="3959352"/>
            <a:ext cx="3520440" cy="2011680"/>
          </a:xfrm>
          <a:prstGeom prst="roundRect">
            <a:avLst>
              <a:gd fmla="val 4091" name="adj"/>
            </a:avLst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8211312" y="4142232"/>
            <a:ext cx="457200" cy="457200"/>
          </a:xfrm>
          <a:prstGeom prst="ellipse">
            <a:avLst/>
          </a:prstGeom>
          <a:solidFill>
            <a:srgbClr val="0B1220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8211312" y="4142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8787384" y="41605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Falla simulada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8238744" y="4736592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Se detiene un microservicio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8238744" y="519379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503 + issue en GlitchTip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SmartFix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09 · Demostracion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Stack tecnologico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Las mismas herramientas y </a:t>
            </a:r>
            <a:r>
              <a:rPr lang="en-US" sz="1500">
                <a:solidFill>
                  <a:srgbClr val="94A3B8"/>
                </a:solidFill>
              </a:rPr>
              <a:t>versión</a:t>
            </a:r>
            <a:r>
              <a:rPr b="0" i="0" lang="en-US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se usan de forma consistente en los 13 componentes.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640080" y="1783080"/>
            <a:ext cx="2587752" cy="1828800"/>
          </a:xfrm>
          <a:prstGeom prst="roundRect">
            <a:avLst>
              <a:gd fmla="val 4500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804672" y="2377440"/>
            <a:ext cx="22585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Java 25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804672" y="2862072"/>
            <a:ext cx="22585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Spring Boot 4.1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3374136" y="1783080"/>
            <a:ext cx="2587752" cy="1828800"/>
          </a:xfrm>
          <a:prstGeom prst="roundRect">
            <a:avLst>
              <a:gd fmla="val 4500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3538728" y="2377440"/>
            <a:ext cx="22585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Spring Security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3538728" y="2862072"/>
            <a:ext cx="22585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JWT (HS256)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6108192" y="1783080"/>
            <a:ext cx="2587752" cy="1828800"/>
          </a:xfrm>
          <a:prstGeom prst="roundRect">
            <a:avLst>
              <a:gd fmla="val 4500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6272784" y="2377440"/>
            <a:ext cx="22585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PostgreSQL 16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6272784" y="2862072"/>
            <a:ext cx="22585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Flyway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8842248" y="1783080"/>
            <a:ext cx="2587752" cy="1828800"/>
          </a:xfrm>
          <a:prstGeom prst="roundRect">
            <a:avLst>
              <a:gd fmla="val 4500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9006840" y="2377440"/>
            <a:ext cx="22585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Spring Cloud Gateway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9006840" y="2862072"/>
            <a:ext cx="22585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WebMVC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640080" y="3758184"/>
            <a:ext cx="2587752" cy="1828800"/>
          </a:xfrm>
          <a:prstGeom prst="roundRect">
            <a:avLst>
              <a:gd fmla="val 4500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804672" y="4352544"/>
            <a:ext cx="22585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springdoc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804672" y="4837176"/>
            <a:ext cx="22585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Swagger / OpenAPI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3374136" y="3758184"/>
            <a:ext cx="2587752" cy="1828800"/>
          </a:xfrm>
          <a:prstGeom prst="roundRect">
            <a:avLst>
              <a:gd fmla="val 4500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3538728" y="4352544"/>
            <a:ext cx="22585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GlitchTip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3538728" y="4837176"/>
            <a:ext cx="22585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SDK de Sentry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6108192" y="3758184"/>
            <a:ext cx="2587752" cy="1828800"/>
          </a:xfrm>
          <a:prstGeom prst="roundRect">
            <a:avLst>
              <a:gd fmla="val 4500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6272784" y="4352544"/>
            <a:ext cx="22585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JUnit 5 · Mockito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6272784" y="4837176"/>
            <a:ext cx="22585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H2 · JaCoCo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8842248" y="3758184"/>
            <a:ext cx="2587752" cy="1828800"/>
          </a:xfrm>
          <a:prstGeom prst="roundRect">
            <a:avLst>
              <a:gd fmla="val 4500" name="adj"/>
            </a:avLst>
          </a:prstGeom>
          <a:solidFill>
            <a:srgbClr val="141E33"/>
          </a:solidFill>
          <a:ln cap="flat" cmpd="sng" w="12700">
            <a:solidFill>
              <a:srgbClr val="22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9006840" y="4352544"/>
            <a:ext cx="22585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9006840" y="4837176"/>
            <a:ext cx="22585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Docker Compose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SmartFix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10 · Stack tecnologico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"/>
          <p:cNvSpPr/>
          <p:nvPr/>
        </p:nvSpPr>
        <p:spPr>
          <a:xfrm>
            <a:off x="9692640" y="-2103120"/>
            <a:ext cx="5486400" cy="5486400"/>
          </a:xfrm>
          <a:prstGeom prst="ellipse">
            <a:avLst/>
          </a:prstGeom>
          <a:solidFill>
            <a:srgbClr val="112A44">
              <a:alpha val="5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640080" y="5943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640080" y="1600200"/>
            <a:ext cx="10607040" cy="777240"/>
          </a:xfrm>
          <a:prstGeom prst="roundRect">
            <a:avLst>
              <a:gd fmla="val 9412" name="adj"/>
            </a:avLst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.png" id="333" name="Google Shape;33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773936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2"/>
          <p:cNvSpPr/>
          <p:nvPr/>
        </p:nvSpPr>
        <p:spPr>
          <a:xfrm>
            <a:off x="1463040" y="160020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Arquitectura de microservicios madura: 13 componentes independientes, escalables y desplegables por separado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640080" y="2514600"/>
            <a:ext cx="10607040" cy="777240"/>
          </a:xfrm>
          <a:prstGeom prst="roundRect">
            <a:avLst>
              <a:gd fmla="val 9412" name="adj"/>
            </a:avLst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.png" id="336" name="Google Shape;3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2688336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2"/>
          <p:cNvSpPr/>
          <p:nvPr/>
        </p:nvSpPr>
        <p:spPr>
          <a:xfrm>
            <a:off x="1463040" y="251460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Gateway como </a:t>
            </a:r>
            <a:r>
              <a:rPr lang="en-US" sz="1350">
                <a:solidFill>
                  <a:srgbClr val="CBD5E1"/>
                </a:solidFill>
              </a:rPr>
              <a:t>único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punto de entrada consolida la regla de oro del proyecto y simplifica la superficie </a:t>
            </a:r>
            <a:r>
              <a:rPr lang="en-US" sz="1350">
                <a:solidFill>
                  <a:srgbClr val="CBD5E1"/>
                </a:solidFill>
              </a:rPr>
              <a:t>pública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640080" y="3429000"/>
            <a:ext cx="10607040" cy="777240"/>
          </a:xfrm>
          <a:prstGeom prst="roundRect">
            <a:avLst>
              <a:gd fmla="val 9412" name="adj"/>
            </a:avLst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.png" id="339" name="Google Shape;3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3602736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2"/>
          <p:cNvSpPr/>
          <p:nvPr/>
        </p:nvSpPr>
        <p:spPr>
          <a:xfrm>
            <a:off x="1463040" y="342900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JWT en todos los niveles, incluida la </a:t>
            </a:r>
            <a:r>
              <a:rPr lang="en-US" sz="1350">
                <a:solidFill>
                  <a:srgbClr val="CBD5E1"/>
                </a:solidFill>
              </a:rPr>
              <a:t>comunicación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interna entre microservicios, sin rutas </a:t>
            </a:r>
            <a:r>
              <a:rPr lang="en-US" sz="1350">
                <a:solidFill>
                  <a:srgbClr val="CBD5E1"/>
                </a:solidFill>
              </a:rPr>
              <a:t>públicas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inseguras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640080" y="4343400"/>
            <a:ext cx="10607040" cy="777240"/>
          </a:xfrm>
          <a:prstGeom prst="roundRect">
            <a:avLst>
              <a:gd fmla="val 9412" name="adj"/>
            </a:avLst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.png" id="342" name="Google Shape;34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4517136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2"/>
          <p:cNvSpPr/>
          <p:nvPr/>
        </p:nvSpPr>
        <p:spPr>
          <a:xfrm>
            <a:off x="1463040" y="434340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GlitchTip aporta observabilidad real: los errores quedan centralizados y reducen el tiempo de </a:t>
            </a:r>
            <a:r>
              <a:rPr lang="en-US" sz="1350">
                <a:solidFill>
                  <a:srgbClr val="CBD5E1"/>
                </a:solidFill>
              </a:rPr>
              <a:t>diagnóstico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640080" y="5257800"/>
            <a:ext cx="10607040" cy="777240"/>
          </a:xfrm>
          <a:prstGeom prst="roundRect">
            <a:avLst>
              <a:gd fmla="val 9412" name="adj"/>
            </a:avLst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.png" id="345" name="Google Shape;34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5431536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2"/>
          <p:cNvSpPr/>
          <p:nvPr/>
        </p:nvSpPr>
        <p:spPr>
          <a:xfrm>
            <a:off x="1463040" y="525780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60+ pruebas automatizadas y cobertura </a:t>
            </a:r>
            <a:r>
              <a:rPr lang="en-US" sz="1350">
                <a:solidFill>
                  <a:srgbClr val="CBD5E1"/>
                </a:solidFill>
              </a:rPr>
              <a:t>mínima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con JaCoCo respaldan la calidad del </a:t>
            </a:r>
            <a:r>
              <a:rPr lang="en-US" sz="1350">
                <a:solidFill>
                  <a:srgbClr val="CBD5E1"/>
                </a:solidFill>
              </a:rPr>
              <a:t>código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entregado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SmartFix —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2026-07-15T22:22:35Z</dcterms:created>
  <dc:creator>PptxGenJS</dc:creator>
</cp:coreProperties>
</file>